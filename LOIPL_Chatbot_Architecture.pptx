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1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20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67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1417320"/>
            <a:ext cx="2560320" cy="91440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34490"/>
            <a:ext cx="8229600" cy="914400"/>
          </a:xfrm>
          <a:prstGeom prst="rect">
            <a:avLst/>
          </a:prstGeom>
          <a:solidFill>
            <a:schemeClr val="bg1">
              <a:alpha val="0"/>
            </a:schemeClr>
          </a:solidFill>
          <a:ln/>
        </p:spPr>
        <p:txBody>
          <a:bodyPr wrap="square" rtlCol="0" anchor="ctr"/>
          <a:lstStyle/>
          <a:p>
            <a:pPr algn="ctr"/>
            <a:r>
              <a:rPr lang="en-US" sz="44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</a:t>
            </a:r>
            <a:endParaRPr lang="en-US" sz="4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1657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Group · Private Cloud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B6DED-CD58-3D8D-D53A-18422D349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284" y="3924636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Self-Hosting Advantage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414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Offering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75564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Third-Party Chatbots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414016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4140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 &amp; Comparison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072384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0723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3072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Pricing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4DED213-2417-3043-86ED-15FA8F668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284" y="3924636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Self-Hosting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hosted on Landmark's private cloud infrastructure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customer data shared with any third-party vendor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 sovereignty — conversation history, order data &amp; profiles never leave LMG servers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lock-in — we own the code, the model calls, and the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with internal data governance and security policies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uptime, scaling, and access permissions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608D70-9F9C-DDBB-CA49-0C9188EB2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284" y="3924636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99329"/>
              </p:ext>
            </p:extLst>
          </p:nvPr>
        </p:nvGraphicFramePr>
        <p:xfrm>
          <a:off x="457200" y="1005840"/>
          <a:ext cx="7489528" cy="2849112"/>
        </p:xfrm>
        <a:graphic>
          <a:graphicData uri="http://schemas.openxmlformats.org/drawingml/2006/table">
            <a:tbl>
              <a:tblPr/>
              <a:tblGrid>
                <a:gridCol w="2080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1A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1A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 3.5.6 · Java 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Orchestration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AI 1.0.3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GPT-4o-mini (intent classification + responses)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— clients, analytics, ingest jobs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— semantic RAG search + response caching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0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Caffeine — 1hr TTL, chatbot + intent cache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368D7-5CA1-0A9D-774B-204C5F2AA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312" y="4365004"/>
            <a:ext cx="922230" cy="779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9590EB-44B3-B95F-875D-7F778C465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562" y="4084657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Architecture Diagram Here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8" name="Picture 7" descr="A diagram of a company&#10;&#10;AI-generated content may be incorrect.">
            <a:extLst>
              <a:ext uri="{FF2B5EF4-FFF2-40B4-BE49-F238E27FC236}">
                <a16:creationId xmlns:a16="http://schemas.microsoft.com/office/drawing/2014/main" id="{B089957F-CEF3-50C7-5314-8A6A0CA82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12129"/>
            <a:ext cx="7772400" cy="32358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822960"/>
            <a:ext cx="155448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822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19072" y="8229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AC88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57400" y="822960"/>
            <a:ext cx="17373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57400" y="8229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22192" y="8229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AC8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60520" y="822960"/>
            <a:ext cx="2651760" cy="384048"/>
          </a:xfrm>
          <a:prstGeom prst="rect">
            <a:avLst/>
          </a:prstGeom>
          <a:solidFill>
            <a:srgbClr val="000000"/>
          </a:solidFill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0520" y="822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 · GPT-4o-mini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207008"/>
            <a:ext cx="0" cy="256032"/>
          </a:xfrm>
          <a:prstGeom prst="line">
            <a:avLst/>
          </a:prstGeom>
          <a:noFill/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" y="1463040"/>
            <a:ext cx="19202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" y="1463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ORDER_TRACKING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Hybris Order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58568" y="1463040"/>
            <a:ext cx="19202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58568" y="1463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ORDER_LISTING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Hybris Orders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79976" y="1463040"/>
            <a:ext cx="19202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79976" y="1463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STORE_LOCATOR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Store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01384" y="1463040"/>
            <a:ext cx="19202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01384" y="14630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GIFT_CARD_BALANCE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Gift Card 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97864" y="2029968"/>
            <a:ext cx="19202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97864" y="20299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CUSTOMER_PROFILE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Profile API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9272" y="2029968"/>
            <a:ext cx="19202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19272" y="20299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POLICY_QUESTION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Redis Vector DB (RAG)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2029968"/>
            <a:ext cx="19202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40680" y="20299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GENERAL_QUERY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GPT-4o-mini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" y="2706624"/>
            <a:ext cx="2194560" cy="384048"/>
          </a:xfrm>
          <a:prstGeom prst="rect">
            <a:avLst/>
          </a:prstGeom>
          <a:solidFill>
            <a:srgbClr val="000000"/>
          </a:solidFill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" y="270662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ChatbotResponse&lt;T&gt;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59152" y="270662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AC8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97480" y="2706624"/>
            <a:ext cx="192024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97480" y="270662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Renderer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45152" y="270662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AC88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83480" y="2706624"/>
            <a:ext cx="128016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27066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379797C-5C81-22AB-955F-07E574B6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562" y="4084657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Offering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2755455"/>
          </a:xfrm>
          <a:prstGeom prst="rect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Flow-Based (Menu &amp; Submenu)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3840480" cy="0"/>
          </a:xfrm>
          <a:prstGeom prst="line">
            <a:avLst/>
          </a:prstGeom>
          <a:noFill/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navigation with clickable categories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 → Submenu → 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typing required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Order · Store Locator · Gift Card · Write to Us · My Profile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for guided navigation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2755455"/>
          </a:xfrm>
          <a:prstGeom prst="rect">
            <a:avLst/>
          </a:prstGeom>
          <a:solidFill>
            <a:srgbClr val="FFFFFF"/>
          </a:solidFill>
          <a:ln w="254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1155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Text (Natural Language)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572768"/>
            <a:ext cx="3840480" cy="0"/>
          </a:xfrm>
          <a:prstGeom prst="line">
            <a:avLst/>
          </a:prstGeom>
          <a:noFill/>
          <a:ln w="1905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anything in their own words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automatically classifies the intent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the correct handler +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typos, variations, mixed queries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rigid structure required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1EB75B-BB1F-DF08-B49E-4A10026C3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418" y="4027932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Third-Party Chatbots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162268"/>
              </p:ext>
            </p:extLst>
          </p:nvPr>
        </p:nvGraphicFramePr>
        <p:xfrm>
          <a:off x="365760" y="868680"/>
          <a:ext cx="7807278" cy="2979718"/>
        </p:xfrm>
        <a:graphic>
          <a:graphicData uri="http://schemas.openxmlformats.org/drawingml/2006/table">
            <a:tbl>
              <a:tblPr/>
              <a:tblGrid>
                <a:gridCol w="1866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1A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1A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LOIPL (Ours)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1A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SaaS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Privacy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Private cloud, zero sharing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Data sent to vendor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Customisation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Full control, multi-brand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Limited to platform templates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Direct Hybris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/OMS/CRM,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middleware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Requires connectors / webhooks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Only OpenAI token 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Monthly SaaS licensing fees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Lock-in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None — we own the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Locked to vendor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6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Intent Logic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Any business rule possible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Constrained by 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70AA46-A009-0198-847B-FCAF5B764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845" y="3989339"/>
            <a:ext cx="1364841" cy="11541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97280" cy="73152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 &amp;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feature in LOIPL — 5 steps · ~1–2 hours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33856"/>
            <a:ext cx="822960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DTO (response shape)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Tool — API caller with @Tool annotation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Intent Handler — @Component implements IntentHandler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bullet to Intent Classifier prompt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auto-discovers — zero manual wiring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270100"/>
              </p:ext>
            </p:extLst>
          </p:nvPr>
        </p:nvGraphicFramePr>
        <p:xfrm>
          <a:off x="457200" y="2487168"/>
          <a:ext cx="7844763" cy="1605560"/>
        </p:xfrm>
        <a:graphic>
          <a:graphicData uri="http://schemas.openxmlformats.org/drawingml/2006/table">
            <a:tbl>
              <a:tblPr/>
              <a:tblGrid>
                <a:gridCol w="1917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7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1A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1AC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 to Add New Intent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LOIPL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~1–2 hrs · Java · no retraining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Dialogflow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NLU training + webhook config + entity setup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data + ML retraining + pipeline rebuild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LangChain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chains + custom memory + tool wiring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SaaS 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UI config + no direct API access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CBB0E-7783-648E-9B01-F29738D4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352" y="4332252"/>
            <a:ext cx="959334" cy="811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B1D8F1-A4D4-C191-67B8-1D0CCDF5C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562" y="4084657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82296"/>
          </a:xfrm>
          <a:prstGeom prst="rect">
            <a:avLst/>
          </a:prstGeom>
          <a:solidFill>
            <a:srgbClr val="D1AC88"/>
          </a:solidFill>
          <a:ln w="12700">
            <a:solidFill>
              <a:srgbClr val="D1AC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AI Chatbot Cost Summary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720000"/>
            <a:ext cx="82296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for 1,000 Requests / Day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050000"/>
            <a:ext cx="39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</a:t>
            </a:r>
          </a:p>
        </p:txBody>
      </p:sp>
      <p:sp>
        <p:nvSpPr>
          <p:cNvPr id="6" name="Text 4"/>
          <p:cNvSpPr/>
          <p:nvPr/>
        </p:nvSpPr>
        <p:spPr>
          <a:xfrm>
            <a:off x="4686600" y="1050000"/>
            <a:ext cx="39144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</a:t>
            </a:r>
          </a:p>
        </p:txBody>
      </p:sp>
      <p:graphicFrame>
        <p:nvGraphicFramePr>
          <p:cNvPr id="10" name="Table Lef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822498"/>
              </p:ext>
            </p:extLst>
          </p:nvPr>
        </p:nvGraphicFramePr>
        <p:xfrm>
          <a:off x="457200" y="1280000"/>
          <a:ext cx="3900000" cy="1400000"/>
        </p:xfrm>
        <a:graphic>
          <a:graphicData uri="http://schemas.openxmlformats.org/drawingml/2006/table">
            <a:tbl>
              <a:tblPr/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Component</a:t>
                      </a:r>
                    </a:p>
                  </a:txBody>
                  <a:tcPr>
                    <a:lnL w="9525">
                      <a:solidFill>
                        <a:srgbClr val="D1AC88"/>
                      </a:solidFill>
                    </a:lnL>
                    <a:lnR w="9525">
                      <a:solidFill>
                        <a:srgbClr val="D1AC88"/>
                      </a:solidFill>
                    </a:lnR>
                    <a:lnT w="9525">
                      <a:solidFill>
                        <a:srgbClr val="D1AC88"/>
                      </a:solidFill>
                    </a:lnT>
                    <a:lnB w="9525">
                      <a:solidFill>
                        <a:srgbClr val="D1AC88"/>
                      </a:solidFill>
                    </a:lnB>
                    <a:solidFill>
                      <a:srgbClr val="D1AC88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Cost</a:t>
                      </a:r>
                    </a:p>
                  </a:txBody>
                  <a:tcPr>
                    <a:lnL w="9525">
                      <a:solidFill>
                        <a:srgbClr val="D1AC88"/>
                      </a:solidFill>
                    </a:lnL>
                    <a:lnR w="9525">
                      <a:solidFill>
                        <a:srgbClr val="D1AC88"/>
                      </a:solidFill>
                    </a:lnR>
                    <a:lnT w="9525">
                      <a:solidFill>
                        <a:srgbClr val="D1AC88"/>
                      </a:solidFill>
                    </a:lnT>
                    <a:lnB w="9525">
                      <a:solidFill>
                        <a:srgbClr val="D1AC88"/>
                      </a:solidFill>
                    </a:lnB>
                    <a:solidFill>
                      <a:srgbClr val="D1A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Intent Classification (LLM)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 cap="flat" cmpd="sng" algn="ctr">
                      <a:solidFill>
                        <a:srgbClr val="D1AC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$0.00025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 cap="flat" cmpd="sng" algn="ctr">
                      <a:solidFill>
                        <a:srgbClr val="D1AC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RAG Response (LLM)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$0.00032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Embedding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$0.000002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Total per request</a:t>
                      </a:r>
                    </a:p>
                  </a:txBody>
                  <a:tcPr>
                    <a:lnL w="38100">
                      <a:solidFill>
                        <a:srgbClr val="D1AC88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~$0.00057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Righ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152458"/>
              </p:ext>
            </p:extLst>
          </p:nvPr>
        </p:nvGraphicFramePr>
        <p:xfrm>
          <a:off x="4686600" y="1280000"/>
          <a:ext cx="3914400" cy="1023840"/>
        </p:xfrm>
        <a:graphic>
          <a:graphicData uri="http://schemas.openxmlformats.org/drawingml/2006/table">
            <a:tbl>
              <a:tblPr/>
              <a:tblGrid>
                <a:gridCol w="23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Usage</a:t>
                      </a:r>
                    </a:p>
                  </a:txBody>
                  <a:tcPr>
                    <a:lnL w="9525">
                      <a:solidFill>
                        <a:srgbClr val="D1AC88"/>
                      </a:solidFill>
                    </a:lnL>
                    <a:lnR w="9525">
                      <a:solidFill>
                        <a:srgbClr val="D1AC88"/>
                      </a:solidFill>
                    </a:lnR>
                    <a:lnT w="9525">
                      <a:solidFill>
                        <a:srgbClr val="D1AC88"/>
                      </a:solidFill>
                    </a:lnT>
                    <a:lnB w="9525">
                      <a:solidFill>
                        <a:srgbClr val="D1AC88"/>
                      </a:solidFill>
                    </a:lnB>
                    <a:solidFill>
                      <a:srgbClr val="D1AC88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</a:rPr>
                        <a:t>Estimated Cost</a:t>
                      </a:r>
                    </a:p>
                  </a:txBody>
                  <a:tcPr>
                    <a:lnL w="9525">
                      <a:solidFill>
                        <a:srgbClr val="D1AC88"/>
                      </a:solidFill>
                    </a:lnL>
                    <a:lnR w="9525">
                      <a:solidFill>
                        <a:srgbClr val="D1AC88"/>
                      </a:solidFill>
                    </a:lnR>
                    <a:lnT w="9525">
                      <a:solidFill>
                        <a:srgbClr val="D1AC88"/>
                      </a:solidFill>
                    </a:lnT>
                    <a:lnB w="9525">
                      <a:solidFill>
                        <a:srgbClr val="D1AC88"/>
                      </a:solidFill>
                    </a:lnB>
                    <a:solidFill>
                      <a:srgbClr val="D1A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Daily (1,000 requests)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 cap="flat" cmpd="sng" algn="ctr">
                      <a:solidFill>
                        <a:srgbClr val="D1AC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~$0.57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 cap="flat" cmpd="sng" algn="ctr">
                      <a:solidFill>
                        <a:srgbClr val="D1AC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Monthly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~$17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Yearly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rial" pitchFamily="34" charset="0"/>
                        </a:rPr>
                        <a:t>~$205</a:t>
                      </a:r>
                    </a:p>
                  </a:txBody>
                  <a:tcPr>
                    <a:lnL w="9525">
                      <a:solidFill>
                        <a:srgbClr val="444444"/>
                      </a:solidFill>
                    </a:lnL>
                    <a:lnR w="9525">
                      <a:solidFill>
                        <a:srgbClr val="444444"/>
                      </a:solidFill>
                    </a:lnR>
                    <a:lnT w="9525">
                      <a:solidFill>
                        <a:srgbClr val="444444"/>
                      </a:solidFill>
                    </a:lnT>
                    <a:lnB w="9525">
                      <a:solidFill>
                        <a:srgbClr val="444444"/>
                      </a:solidFill>
                    </a:lnB>
                    <a:solidFill>
                      <a:srgbClr val="1A1A1A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 Highlights Label"/>
          <p:cNvSpPr/>
          <p:nvPr/>
        </p:nvSpPr>
        <p:spPr>
          <a:xfrm>
            <a:off x="457200" y="2760000"/>
            <a:ext cx="8229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</a:p>
        </p:txBody>
      </p:sp>
      <p:sp>
        <p:nvSpPr>
          <p:cNvPr id="31" name="Text Highlights"/>
          <p:cNvSpPr/>
          <p:nvPr/>
        </p:nvSpPr>
        <p:spPr>
          <a:xfrm>
            <a:off x="457200" y="2970000"/>
            <a:ext cx="8229600" cy="720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0" dirty="0">
                <a:latin typeface="Arial" pitchFamily="34" charset="0"/>
              </a:rPr>
              <a:t>▸  No platform or licensing fees</a:t>
            </a:r>
          </a:p>
          <a:p>
            <a:pPr marL="0" indent="0">
              <a:buNone/>
            </a:pPr>
            <a:r>
              <a:rPr lang="en-US" sz="1100" b="0" dirty="0">
                <a:latin typeface="Arial" pitchFamily="34" charset="0"/>
              </a:rPr>
              <a:t>▸  Pay-per-use model — token-based billing only</a:t>
            </a:r>
          </a:p>
          <a:p>
            <a:pPr marL="0" indent="0">
              <a:buNone/>
            </a:pPr>
            <a:r>
              <a:rPr lang="en-US" sz="1100" b="0" dirty="0">
                <a:latin typeface="Arial" pitchFamily="34" charset="0"/>
              </a:rPr>
              <a:t>▸  Predictable, linear scaling with traffic</a:t>
            </a:r>
          </a:p>
          <a:p>
            <a:pPr marL="0" indent="0">
              <a:buNone/>
            </a:pPr>
            <a:r>
              <a:rPr lang="en-US" sz="1100" b="0" dirty="0">
                <a:latin typeface="Arial" pitchFamily="34" charset="0"/>
              </a:rPr>
              <a:t>▸  Enterprise-grade AI at very low operating cost</a:t>
            </a:r>
          </a:p>
        </p:txBody>
      </p:sp>
      <p:sp>
        <p:nvSpPr>
          <p:cNvPr id="50" name="Text SlideNum"/>
          <p:cNvSpPr/>
          <p:nvPr/>
        </p:nvSpPr>
        <p:spPr>
          <a:xfrm>
            <a:off x="8229600" y="4953600"/>
            <a:ext cx="457200" cy="19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A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FFD297-6B85-3875-0F96-1F0AA947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562" y="4084657"/>
            <a:ext cx="1252124" cy="1058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773FDF-3E92-9390-B519-9D9C6D509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138" y="4029521"/>
            <a:ext cx="1252124" cy="1058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</TotalTime>
  <Words>624</Words>
  <Application>Microsoft Macintosh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LOIPL AI Chatbot — Architecture Overview</dc:title>
  <dc:subject>PptxGenJS Presentation</dc:subject>
  <dc:creator>Landmark Group</dc:creator>
  <cp:lastModifiedBy>Jagnya Panigrahi</cp:lastModifiedBy>
  <cp:revision>8</cp:revision>
  <dcterms:created xsi:type="dcterms:W3CDTF">2026-03-20T16:10:24Z</dcterms:created>
  <dcterms:modified xsi:type="dcterms:W3CDTF">2026-03-22T17:09:28Z</dcterms:modified>
</cp:coreProperties>
</file>